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74" r:id="rId3"/>
    <p:sldId id="275" r:id="rId4"/>
    <p:sldId id="259" r:id="rId5"/>
    <p:sldId id="261" r:id="rId6"/>
    <p:sldId id="257" r:id="rId7"/>
    <p:sldId id="258" r:id="rId8"/>
    <p:sldId id="281" r:id="rId9"/>
    <p:sldId id="282" r:id="rId10"/>
    <p:sldId id="283" r:id="rId11"/>
    <p:sldId id="264" r:id="rId12"/>
    <p:sldId id="265" r:id="rId13"/>
    <p:sldId id="279" r:id="rId14"/>
    <p:sldId id="280" r:id="rId15"/>
    <p:sldId id="270" r:id="rId16"/>
    <p:sldId id="271" r:id="rId17"/>
    <p:sldId id="28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29"/>
  </p:normalViewPr>
  <p:slideViewPr>
    <p:cSldViewPr snapToGrid="0" snapToObjects="1" showGuides="1">
      <p:cViewPr varScale="1">
        <p:scale>
          <a:sx n="66" d="100"/>
          <a:sy n="66" d="100"/>
        </p:scale>
        <p:origin x="60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A9923-1F4A-024D-B352-19906A47BD3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4B600-B19B-0A43-819A-860A153705C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PLATE_MASTER"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2"/>
          </a:solidFill>
          <a:ln w="12700">
            <a:solidFill>
              <a:srgbClr val="F6F8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8CA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27.png"/><Relationship Id="rId18" Type="http://schemas.openxmlformats.org/officeDocument/2006/relationships/image" Target="../media/image45.png"/><Relationship Id="rId3" Type="http://schemas.openxmlformats.org/officeDocument/2006/relationships/image" Target="../media/image18.png"/><Relationship Id="rId21" Type="http://schemas.openxmlformats.org/officeDocument/2006/relationships/image" Target="../media/image48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20.png"/><Relationship Id="rId15" Type="http://schemas.openxmlformats.org/officeDocument/2006/relationships/image" Target="../media/image42.png"/><Relationship Id="rId10" Type="http://schemas.openxmlformats.org/officeDocument/2006/relationships/image" Target="../media/image39.png"/><Relationship Id="rId19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38.png"/><Relationship Id="rId14" Type="http://schemas.openxmlformats.org/officeDocument/2006/relationships/image" Target="../media/image28.png"/><Relationship Id="rId22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main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" y="0"/>
            <a:ext cx="121870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194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95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PROJECT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7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RePlate?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89"/>
                </a:solidFill>
              </a:rPr>
              <a:t>RePlate · SE 216 Software Project Management · Group 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67665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721"/>
                </a:solidFill>
              </a:rPr>
              <a:t>A digital platform that connects food businesses, municipalities and citizens to redistribute surplus food, reduce waste and support local communities.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909560" y="1234440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28432" y="1353312"/>
            <a:ext cx="1133856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5C46"/>
                </a:solidFill>
              </a:rPr>
              <a:t>20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19288" y="1691640"/>
            <a:ext cx="115214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5B6C64"/>
                </a:solidFill>
              </a:rPr>
              <a:t>Functional requirements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9464040" y="1234440"/>
            <a:ext cx="1143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82912" y="1353312"/>
            <a:ext cx="905256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5E8A"/>
                </a:solidFill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573768" y="1691640"/>
            <a:ext cx="92354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5B6C64"/>
                </a:solidFill>
              </a:rPr>
              <a:t>Agile sprints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10789920" y="1234440"/>
            <a:ext cx="1143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08792" y="1353312"/>
            <a:ext cx="905256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6D21"/>
                </a:solidFill>
              </a:rPr>
              <a:t>11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899648" y="1691640"/>
            <a:ext cx="92354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5B6C64"/>
                </a:solidFill>
              </a:rPr>
              <a:t>Stakeholder groups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594360" y="224028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95C46"/>
                </a:solidFill>
              </a:rPr>
              <a:t>Platform highlights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94360" y="2697480"/>
            <a:ext cx="5349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2834640"/>
            <a:ext cx="384048" cy="384048"/>
          </a:xfrm>
          <a:prstGeom prst="roundRect">
            <a:avLst>
              <a:gd name="adj" fmla="val 35714"/>
            </a:avLst>
          </a:prstGeom>
          <a:solidFill>
            <a:srgbClr val="EEF6EC"/>
          </a:solidFill>
          <a:ln w="12700">
            <a:solidFill>
              <a:srgbClr val="EEF6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8096" y="2907792"/>
            <a:ext cx="2743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283464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95C46"/>
                </a:solidFill>
              </a:rPr>
              <a:t>Interactive surplus food map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95528" y="3319272"/>
            <a:ext cx="4946904" cy="1828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52721"/>
                </a:solidFill>
              </a:rPr>
              <a:t>Nearby branches and available products shown by location.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2697480"/>
            <a:ext cx="5349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28232" y="2834640"/>
            <a:ext cx="384048" cy="384048"/>
          </a:xfrm>
          <a:prstGeom prst="roundRect">
            <a:avLst>
              <a:gd name="adj" fmla="val 35714"/>
            </a:avLst>
          </a:prstGeom>
          <a:solidFill>
            <a:srgbClr val="EEF6EC"/>
          </a:solidFill>
          <a:ln w="12700">
            <a:solidFill>
              <a:srgbClr val="EEF6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83096" y="2907792"/>
            <a:ext cx="2743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283464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5E8A"/>
                </a:solidFill>
              </a:rPr>
              <a:t>Two-stage redistribution model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510528" y="3319272"/>
            <a:ext cx="4946904" cy="1828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52721"/>
                </a:solidFill>
              </a:rPr>
              <a:t>Direct user pickup first; unclaimed food moves to municipal centers.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" y="3749040"/>
            <a:ext cx="5349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3232" y="3886200"/>
            <a:ext cx="384048" cy="384048"/>
          </a:xfrm>
          <a:prstGeom prst="roundRect">
            <a:avLst>
              <a:gd name="adj" fmla="val 35714"/>
            </a:avLst>
          </a:prstGeom>
          <a:solidFill>
            <a:srgbClr val="EEF6EC"/>
          </a:solidFill>
          <a:ln w="12700">
            <a:solidFill>
              <a:srgbClr val="EEF6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8096" y="3959352"/>
            <a:ext cx="2743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388620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95C46"/>
                </a:solidFill>
              </a:rPr>
              <a:t>Meal &amp; pet food donations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95528" y="4370832"/>
            <a:ext cx="4946904" cy="731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52721"/>
                </a:solidFill>
              </a:rPr>
              <a:t>Aid for people in need and animal shelters.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3749040"/>
            <a:ext cx="5349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28232" y="3886200"/>
            <a:ext cx="384048" cy="384048"/>
          </a:xfrm>
          <a:prstGeom prst="roundRect">
            <a:avLst>
              <a:gd name="adj" fmla="val 35714"/>
            </a:avLst>
          </a:prstGeom>
          <a:solidFill>
            <a:srgbClr val="EEF6EC"/>
          </a:solidFill>
          <a:ln w="12700">
            <a:solidFill>
              <a:srgbClr val="EEF6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83096" y="3959352"/>
            <a:ext cx="2743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388620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5E8A"/>
                </a:solidFill>
              </a:rPr>
              <a:t>Business &amp; municipality dashboards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6510528" y="4370832"/>
            <a:ext cx="4946904" cy="731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52721"/>
                </a:solidFill>
              </a:rPr>
              <a:t>Surplus, stock, transfers, donations and impact analytics.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4360" y="4800600"/>
            <a:ext cx="5349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13232" y="4937760"/>
            <a:ext cx="384048" cy="384048"/>
          </a:xfrm>
          <a:prstGeom prst="roundRect">
            <a:avLst>
              <a:gd name="adj" fmla="val 35714"/>
            </a:avLst>
          </a:prstGeom>
          <a:solidFill>
            <a:srgbClr val="EEF6EC"/>
          </a:solidFill>
          <a:ln w="12700">
            <a:solidFill>
              <a:srgbClr val="EEF6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68096" y="5010912"/>
            <a:ext cx="2743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88720" y="493776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95C46"/>
                </a:solidFill>
              </a:rPr>
              <a:t>Real-time notifications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795528" y="5422392"/>
            <a:ext cx="4946904" cy="731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52721"/>
                </a:solidFill>
              </a:rPr>
              <a:t>Reservation updates, favorite branch alerts and price changes.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309360" y="4800600"/>
            <a:ext cx="5349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28232" y="4937760"/>
            <a:ext cx="384048" cy="384048"/>
          </a:xfrm>
          <a:prstGeom prst="roundRect">
            <a:avLst>
              <a:gd name="adj" fmla="val 35714"/>
            </a:avLst>
          </a:prstGeom>
          <a:solidFill>
            <a:srgbClr val="EEF6EC"/>
          </a:solidFill>
          <a:ln w="12700">
            <a:solidFill>
              <a:srgbClr val="EEF6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83096" y="5010912"/>
            <a:ext cx="2743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↗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03720" y="493776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5E8A"/>
                </a:solidFill>
              </a:rPr>
              <a:t>Personal impact tracker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6510528" y="5422392"/>
            <a:ext cx="4946904" cy="731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52721"/>
                </a:solidFill>
              </a:rPr>
              <a:t>Users see money saved, meals rescued and environmental impact.</a:t>
            </a:r>
            <a:endParaRPr lang="en-US" sz="11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8CA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194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95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PROJECT INTRODUCTION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7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Problem, solution and overall goal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89"/>
                </a:solidFill>
              </a:rPr>
              <a:t>RePlate · SE 216 Software Project Management · Group 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2120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F0CB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62763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54B2A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4526280" cy="19202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52721"/>
                </a:solidFill>
              </a:rPr>
              <a:t>• Restaurants, cafés and supermarkets discard edible food due to overproduction and end-of-day surplus.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52721"/>
                </a:solidFill>
              </a:rPr>
              <a:t>• People with limited resources struggle to access affordable meals.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52721"/>
                </a:solidFill>
              </a:rPr>
              <a:t>• Existing platforms do not coordinate municipalities and businesses in one structured redistribution system.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325880"/>
            <a:ext cx="52120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A9D5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9400" y="162763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5C46"/>
                </a:solidFill>
              </a:rPr>
              <a:t>Our Solution — RePlate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2148840"/>
            <a:ext cx="4526280" cy="19202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52721"/>
                </a:solidFill>
              </a:rPr>
              <a:t>• One coordinated network connects restaurants, food businesses, municipalities and citizens.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52721"/>
                </a:solidFill>
              </a:rPr>
              <a:t>• Users reserve directly from businesses; uncollected food is automatically transferred to distribution centers.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52721"/>
                </a:solidFill>
              </a:rPr>
              <a:t>• Donation flows and analytical dashboards provide measurable environmental and social impact.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5074920"/>
            <a:ext cx="10972800" cy="822960"/>
          </a:xfrm>
          <a:prstGeom prst="roundRect">
            <a:avLst>
              <a:gd name="adj" fmla="val 17778"/>
            </a:avLst>
          </a:prstGeom>
          <a:solidFill>
            <a:srgbClr val="E6F2E7"/>
          </a:solidFill>
          <a:ln w="12700">
            <a:solidFill>
              <a:srgbClr val="CBE6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532180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5C46"/>
                </a:solidFill>
              </a:rPr>
              <a:t>Overall goal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5230368"/>
            <a:ext cx="88696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52721"/>
                </a:solidFill>
              </a:rPr>
              <a:t>Build a traceable food redistribution platform that reduces waste, supports vulnerable communities and creates measurable environmental impact.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8CA4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main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" y="0"/>
            <a:ext cx="121870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0276"/>
            <a:ext cx="12228261" cy="68377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RePlate Requirements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41080" y="649224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216 Software Project Management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0704" y="36576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Functional Requirements (FR)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85039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What the RePlate system must do, grouped by stakeholder workflow.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3611880" cy="38862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361188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Shape 8"/>
          <p:cNvSpPr/>
          <p:nvPr/>
        </p:nvSpPr>
        <p:spPr>
          <a:xfrm>
            <a:off x="704088" y="1563624"/>
            <a:ext cx="457200" cy="384048"/>
          </a:xfrm>
          <a:prstGeom prst="roundRect">
            <a:avLst>
              <a:gd name="adj" fmla="val 21429"/>
            </a:avLst>
          </a:prstGeom>
          <a:solidFill>
            <a:srgbClr val="E6FFFA"/>
          </a:solidFill>
          <a:ln w="12700">
            <a:solidFill>
              <a:srgbClr val="E6FFF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722376" y="15133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</a:rPr>
              <a:t>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97053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Client Experience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22539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FR-1 to FR-10, FR-16, FR-19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04088" y="2449664"/>
            <a:ext cx="310896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Separate login forms for municipalities, business owners and clients.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User registration/login with email or phone and profile creation.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Interactive map with user location and nearby branches with available products.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Map/list filtering by category, price range, distance, expiration date and stock quantity.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Product details: name, category, prices, expiration date, quantity, branch and pickup window.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Reservation with unique reservation code and QR code; cancellation up to 30 minutes before pickup.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Push notifications, favorite branches, priority notifications, impact dashboard and secure in-app payment.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1325880"/>
            <a:ext cx="3611880" cy="38862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6" name="Shape 14"/>
          <p:cNvSpPr/>
          <p:nvPr/>
        </p:nvSpPr>
        <p:spPr>
          <a:xfrm>
            <a:off x="4297680" y="1325880"/>
            <a:ext cx="36118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Shape 15"/>
          <p:cNvSpPr/>
          <p:nvPr/>
        </p:nvSpPr>
        <p:spPr>
          <a:xfrm>
            <a:off x="4498848" y="1563624"/>
            <a:ext cx="457200" cy="384048"/>
          </a:xfrm>
          <a:prstGeom prst="roundRect">
            <a:avLst>
              <a:gd name="adj" fmla="val 21429"/>
            </a:avLst>
          </a:prstGeom>
          <a:solidFill>
            <a:srgbClr val="E6FFFA"/>
          </a:solidFill>
          <a:ln w="12700">
            <a:solidFill>
              <a:srgbClr val="E6FFF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4562856" y="16184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</a:rPr>
              <a:t>🏪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20756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&amp; Stock Logic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26280" y="23591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FR-11, FR-14, FR-15, FR-20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599432" y="2743200"/>
            <a:ext cx="310896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Businesses register on the platform and are verified before activation.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Businesses declare surplus food with name, category, quantity, expiration date, photo and pickup time.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System detects products close to expiration and suggests listing them.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Business dashboard shows surplus declarations, waste reduction rates and donation contributions.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Products within 24 hours of expiration receive dynamic pricing suggestions.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Product status updates automatically based on actions and time limits: available, reserved, picked-up, expired, donated and bio-waste.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92440" y="1325880"/>
            <a:ext cx="3611880" cy="38862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3" name="Shape 21"/>
          <p:cNvSpPr/>
          <p:nvPr/>
        </p:nvSpPr>
        <p:spPr>
          <a:xfrm>
            <a:off x="8092440" y="1325880"/>
            <a:ext cx="36118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Shape 22"/>
          <p:cNvSpPr/>
          <p:nvPr/>
        </p:nvSpPr>
        <p:spPr>
          <a:xfrm>
            <a:off x="8293608" y="1563624"/>
            <a:ext cx="457200" cy="384048"/>
          </a:xfrm>
          <a:prstGeom prst="roundRect">
            <a:avLst>
              <a:gd name="adj" fmla="val 21429"/>
            </a:avLst>
          </a:prstGeom>
          <a:solidFill>
            <a:srgbClr val="E6FFFA"/>
          </a:solidFill>
          <a:ln w="12700">
            <a:solidFill>
              <a:srgbClr val="E6FFF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/>
          <p:nvPr/>
        </p:nvSpPr>
        <p:spPr>
          <a:xfrm>
            <a:off x="8357616" y="16184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</a:rPr>
              <a:t>🏛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20756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Redistribution &amp; Municipality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21040" y="23591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FR-12, FR-13, FR-17, FR-18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8394192" y="2743200"/>
            <a:ext cx="310896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Two-stage model: users reserve and collect directly from businesses within a defined time window.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If a product is not collected in time, it transfers automatically to municipal distribution centers.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Distribution centers view incoming transfers, track current stock and process pickup with QR scanning.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Users can donate meals for people in need and pet food for animal shelters.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Municipalities monitor reported surplus food, track transfers, manage redistribution and analyze regional food data.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" y="5532120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8"/>
          <p:cNvSpPr/>
          <p:nvPr/>
        </p:nvSpPr>
        <p:spPr>
          <a:xfrm>
            <a:off x="777240" y="5696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95528" y="6053328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AAB7C4"/>
                </a:solidFill>
              </a:rPr>
              <a:t>PICKUP VERIFICATION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3017520" y="5532120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31"/>
          <p:cNvSpPr/>
          <p:nvPr/>
        </p:nvSpPr>
        <p:spPr>
          <a:xfrm>
            <a:off x="3108960" y="5696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E6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127248" y="6053328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AAB7C4"/>
                </a:solidFill>
              </a:rPr>
              <a:t>STOCK UPDATES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5349240" y="5532120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6" name="Text 34"/>
          <p:cNvSpPr/>
          <p:nvPr/>
        </p:nvSpPr>
        <p:spPr>
          <a:xfrm>
            <a:off x="5440680" y="5696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24H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58968" y="6053328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AAB7C4"/>
                </a:solidFill>
              </a:rPr>
              <a:t>DYNAMIC PRICING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7680960" y="5532120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9" name="Text 37"/>
          <p:cNvSpPr/>
          <p:nvPr/>
        </p:nvSpPr>
        <p:spPr>
          <a:xfrm>
            <a:off x="7772400" y="5696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2-STAGE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790688" y="6053328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AAB7C4"/>
                </a:solidFill>
              </a:rPr>
              <a:t>REDISTRIBUTION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10012680" y="553212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Text 40"/>
          <p:cNvSpPr/>
          <p:nvPr/>
        </p:nvSpPr>
        <p:spPr>
          <a:xfrm>
            <a:off x="10104120" y="56967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CO₂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122408" y="605332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AAB7C4"/>
                </a:solidFill>
              </a:rPr>
              <a:t>IMPACT</a:t>
            </a:r>
            <a:endParaRPr lang="en-US" sz="6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RePlate Requirements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41080" y="649224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216 Software Project Management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0704" y="36576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Non-Functional Requirements (NFR)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85039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Quality attributes the RePlate system must satisfy during operation.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1430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658368" y="1307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&lt;3s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6656" y="166420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AAB7C4"/>
                </a:solidFill>
              </a:rPr>
              <a:t>SEARCH &amp; FILTER RESULTS</a:t>
            </a:r>
            <a:endParaRPr lang="en-US" sz="660" dirty="0"/>
          </a:p>
        </p:txBody>
      </p:sp>
      <p:sp>
        <p:nvSpPr>
          <p:cNvPr id="11" name="Shape 9"/>
          <p:cNvSpPr/>
          <p:nvPr/>
        </p:nvSpPr>
        <p:spPr>
          <a:xfrm>
            <a:off x="2724912" y="11430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10"/>
          <p:cNvSpPr/>
          <p:nvPr/>
        </p:nvSpPr>
        <p:spPr>
          <a:xfrm>
            <a:off x="2816352" y="1307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E6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34640" y="166420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AAB7C4"/>
                </a:solidFill>
              </a:rPr>
              <a:t>UPTIME / 24×7</a:t>
            </a:r>
            <a:endParaRPr lang="en-US" sz="660" dirty="0"/>
          </a:p>
        </p:txBody>
      </p:sp>
      <p:sp>
        <p:nvSpPr>
          <p:cNvPr id="14" name="Shape 12"/>
          <p:cNvSpPr/>
          <p:nvPr/>
        </p:nvSpPr>
        <p:spPr>
          <a:xfrm>
            <a:off x="4882896" y="11430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/>
          <p:nvPr/>
        </p:nvSpPr>
        <p:spPr>
          <a:xfrm>
            <a:off x="4974336" y="1307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92624" y="166420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AAB7C4"/>
                </a:solidFill>
              </a:rPr>
              <a:t>CRASH RESTART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7040880" y="11430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7132320" y="1307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50608" y="166420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AAB7C4"/>
                </a:solidFill>
              </a:rPr>
              <a:t>CONCURRENT USERS</a:t>
            </a:r>
            <a:endParaRPr lang="en-US" sz="660" dirty="0"/>
          </a:p>
        </p:txBody>
      </p:sp>
      <p:sp>
        <p:nvSpPr>
          <p:cNvPr id="20" name="Shape 18"/>
          <p:cNvSpPr/>
          <p:nvPr/>
        </p:nvSpPr>
        <p:spPr>
          <a:xfrm>
            <a:off x="9198864" y="1143000"/>
            <a:ext cx="2423160" cy="777240"/>
          </a:xfrm>
          <a:prstGeom prst="roundRect">
            <a:avLst>
              <a:gd name="adj" fmla="val 9412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/>
          <p:nvPr/>
        </p:nvSpPr>
        <p:spPr>
          <a:xfrm>
            <a:off x="9290304" y="1307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AES-256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08592" y="166420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AAB7C4"/>
                </a:solidFill>
              </a:rPr>
              <a:t>DATA ENCRYPTION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502920" y="2212848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4" name="Shape 22"/>
          <p:cNvSpPr/>
          <p:nvPr/>
        </p:nvSpPr>
        <p:spPr>
          <a:xfrm>
            <a:off x="502920" y="2212848"/>
            <a:ext cx="269748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Shape 23"/>
          <p:cNvSpPr/>
          <p:nvPr/>
        </p:nvSpPr>
        <p:spPr>
          <a:xfrm>
            <a:off x="704088" y="2450592"/>
            <a:ext cx="457200" cy="384048"/>
          </a:xfrm>
          <a:prstGeom prst="roundRect">
            <a:avLst>
              <a:gd name="adj" fmla="val 21429"/>
            </a:avLst>
          </a:prstGeom>
          <a:solidFill>
            <a:srgbClr val="E6FFFA"/>
          </a:solidFill>
          <a:ln w="12700">
            <a:solidFill>
              <a:srgbClr val="E6FFF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4"/>
          <p:cNvSpPr/>
          <p:nvPr/>
        </p:nvSpPr>
        <p:spPr>
          <a:xfrm>
            <a:off x="768096" y="250545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</a:rPr>
              <a:t>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296265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&amp; Scale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3246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NFR-1, NFR-7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804672" y="3630168"/>
            <a:ext cx="21945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Search and filter results must return in less than 3 seconds under normal network conditions.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The system must support at least 10,000 concurrent users.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Core operations such as search, reserve and update must stay below 3 seconds.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2212848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1" name="Shape 29"/>
          <p:cNvSpPr/>
          <p:nvPr/>
        </p:nvSpPr>
        <p:spPr>
          <a:xfrm>
            <a:off x="3383280" y="2212848"/>
            <a:ext cx="2697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Shape 30"/>
          <p:cNvSpPr/>
          <p:nvPr/>
        </p:nvSpPr>
        <p:spPr>
          <a:xfrm>
            <a:off x="3584448" y="2450592"/>
            <a:ext cx="457200" cy="384048"/>
          </a:xfrm>
          <a:prstGeom prst="roundRect">
            <a:avLst>
              <a:gd name="adj" fmla="val 21429"/>
            </a:avLst>
          </a:prstGeom>
          <a:solidFill>
            <a:srgbClr val="E6FFFA"/>
          </a:solidFill>
          <a:ln w="12700">
            <a:solidFill>
              <a:srgbClr val="E6FFF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31"/>
          <p:cNvSpPr/>
          <p:nvPr/>
        </p:nvSpPr>
        <p:spPr>
          <a:xfrm>
            <a:off x="3648456" y="250545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</a:rPr>
              <a:t>⏱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11880" y="296265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Availability &amp; Recovery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611880" y="3246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NFR-2, NFR-3, NFR-12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3685032" y="3630168"/>
            <a:ext cx="21945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The system must maintain at least 99% uptime and be accessible 24/7.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After a crash or unexpected failure, the system must restart within 5 minutes.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Error rate must stay below 1% during normal operation.</a:t>
            </a:r>
          </a:p>
          <a:p>
            <a:pPr marL="101600" indent="-101600">
              <a:buSzPct val="100000"/>
              <a:buChar char="•"/>
            </a:pP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Downtime during updates must not exceed 5 minutes.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2212848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8" name="Shape 36"/>
          <p:cNvSpPr/>
          <p:nvPr/>
        </p:nvSpPr>
        <p:spPr>
          <a:xfrm>
            <a:off x="6263640" y="2212848"/>
            <a:ext cx="26974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9" name="Shape 37"/>
          <p:cNvSpPr/>
          <p:nvPr/>
        </p:nvSpPr>
        <p:spPr>
          <a:xfrm>
            <a:off x="6464808" y="2450592"/>
            <a:ext cx="457200" cy="384048"/>
          </a:xfrm>
          <a:prstGeom prst="roundRect">
            <a:avLst>
              <a:gd name="adj" fmla="val 21429"/>
            </a:avLst>
          </a:prstGeom>
          <a:solidFill>
            <a:srgbClr val="E6FFFA"/>
          </a:solidFill>
          <a:ln w="12700">
            <a:solidFill>
              <a:srgbClr val="E6FFF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0" name="Text 38"/>
          <p:cNvSpPr/>
          <p:nvPr/>
        </p:nvSpPr>
        <p:spPr>
          <a:xfrm>
            <a:off x="6528816" y="250545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</a:rPr>
              <a:t>🔒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92240" y="296265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&amp; Access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492240" y="3246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NFR-4, NFR-5, NFR-12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6565392" y="3630168"/>
            <a:ext cx="21945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Personal data, payment information and reservation data must be stored securely using AES-256 encryption.</a:t>
            </a: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Data transmission must use secure protocols: SSL/TLS.</a:t>
            </a: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Only authorized administrators should access management panels and sensitive business data.</a:t>
            </a: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Critical security patches must be applied within 48 hours of detection.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00" y="2212848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45" name="Shape 43"/>
          <p:cNvSpPr/>
          <p:nvPr/>
        </p:nvSpPr>
        <p:spPr>
          <a:xfrm>
            <a:off x="9144000" y="2212848"/>
            <a:ext cx="25146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6" name="Shape 44"/>
          <p:cNvSpPr/>
          <p:nvPr/>
        </p:nvSpPr>
        <p:spPr>
          <a:xfrm>
            <a:off x="9345168" y="2450592"/>
            <a:ext cx="457200" cy="384048"/>
          </a:xfrm>
          <a:prstGeom prst="roundRect">
            <a:avLst>
              <a:gd name="adj" fmla="val 21429"/>
            </a:avLst>
          </a:prstGeom>
          <a:solidFill>
            <a:srgbClr val="E6FFFA"/>
          </a:solidFill>
          <a:ln w="12700">
            <a:solidFill>
              <a:srgbClr val="E6FFF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7" name="Text 45"/>
          <p:cNvSpPr/>
          <p:nvPr/>
        </p:nvSpPr>
        <p:spPr>
          <a:xfrm>
            <a:off x="9409176" y="250545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📱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372600" y="29626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Usability &amp; Compatibility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372600" y="32461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NFR-6, NFR-9, NFR-11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9445752" y="3630168"/>
            <a:ext cx="20116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At least 90% of users must complete a product reservation within 3 minutes without external assistance.</a:t>
            </a: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The app must support Android 10+ and iOS 14+.</a:t>
            </a: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It must function on 4.7–6.7 inch screens with at least 4GB RAM.</a:t>
            </a:r>
            <a:endParaRPr lang="en-US" sz="900" dirty="0"/>
          </a:p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GPS location error margin must be at most 25 meters.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7150" y="5367528"/>
            <a:ext cx="11109960" cy="713232"/>
          </a:xfrm>
          <a:prstGeom prst="roundRect">
            <a:avLst>
              <a:gd name="adj" fmla="val 12821"/>
            </a:avLst>
          </a:prstGeom>
          <a:solidFill>
            <a:srgbClr val="EAF2F8"/>
          </a:solidFill>
          <a:ln w="1270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2" name="Shape 50"/>
          <p:cNvSpPr/>
          <p:nvPr/>
        </p:nvSpPr>
        <p:spPr>
          <a:xfrm>
            <a:off x="777240" y="5623560"/>
            <a:ext cx="1005840" cy="201168"/>
          </a:xfrm>
          <a:prstGeom prst="roundRect">
            <a:avLst>
              <a:gd name="adj" fmla="val 36364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3" name="Text 51"/>
          <p:cNvSpPr/>
          <p:nvPr/>
        </p:nvSpPr>
        <p:spPr>
          <a:xfrm>
            <a:off x="822960" y="566013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</a:rPr>
              <a:t>NFR-8</a:t>
            </a:r>
            <a:endParaRPr lang="en-US" sz="620" dirty="0"/>
          </a:p>
        </p:txBody>
      </p:sp>
      <p:sp>
        <p:nvSpPr>
          <p:cNvPr id="54" name="Text 52"/>
          <p:cNvSpPr/>
          <p:nvPr/>
        </p:nvSpPr>
        <p:spPr>
          <a:xfrm>
            <a:off x="1874520" y="55961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Backups every day at 02:00 AM, completed before 03:00 AM, retained for at least 7 days.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63640" y="5623560"/>
            <a:ext cx="100584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6" name="Text 54"/>
          <p:cNvSpPr/>
          <p:nvPr/>
        </p:nvSpPr>
        <p:spPr>
          <a:xfrm>
            <a:off x="6309360" y="566013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</a:rPr>
              <a:t>NFR-10</a:t>
            </a:r>
            <a:endParaRPr lang="en-US" sz="620" dirty="0"/>
          </a:p>
        </p:txBody>
      </p:sp>
      <p:sp>
        <p:nvSpPr>
          <p:cNvPr id="57" name="Text 55"/>
          <p:cNvSpPr/>
          <p:nvPr/>
        </p:nvSpPr>
        <p:spPr>
          <a:xfrm>
            <a:off x="7360920" y="55961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Modular architecture: new features require changes to no more than 15% of the existing non-UI codebase.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09214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DF61E868-3607-B65C-3C99-CA98928A2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850" y="3606079"/>
            <a:ext cx="3962400" cy="2373656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CB2728DD-427F-AAF2-4EDB-88127716E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809" y="2902744"/>
            <a:ext cx="80904" cy="1804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278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986" y="3253098"/>
            <a:ext cx="342903" cy="200026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A13E9DBF-0908-2D88-C98E-F5F7528C7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1" y="3657228"/>
            <a:ext cx="3885798" cy="22673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51" cy="62899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17" y="5129597"/>
            <a:ext cx="1331127" cy="3069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644" y="5121255"/>
            <a:ext cx="1949450" cy="3153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6767" y="5039179"/>
            <a:ext cx="835033" cy="18083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1006" y="2566988"/>
            <a:ext cx="70644" cy="131762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FE333F0E-E718-DCDB-FF8A-6636353E0D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3917" y="3560762"/>
            <a:ext cx="4114800" cy="24284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_stakeholders_risk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_stakeholders_risks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478" y="0"/>
            <a:ext cx="9124122" cy="68729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1333500"/>
            <a:ext cx="5405437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215062" y="1333500"/>
            <a:ext cx="5405437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155696"/>
            <a:ext cx="5405437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215062" y="4146765"/>
            <a:ext cx="5405437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28675" y="3467100"/>
            <a:ext cx="17145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472237" y="3467100"/>
            <a:ext cx="200977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28675" y="6400800"/>
            <a:ext cx="21050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6472237" y="6400800"/>
            <a:ext cx="17621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828675" y="2695575"/>
            <a:ext cx="4891087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6472237" y="2695575"/>
            <a:ext cx="4891087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828675" y="5629275"/>
            <a:ext cx="4891087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6472237" y="5629275"/>
            <a:ext cx="4891087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1. Code Reliability &amp; </a:t>
            </a: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Simulated Workflows</a:t>
            </a:r>
          </a:p>
        </p:txBody>
      </p:sp>
      <p:sp>
        <p:nvSpPr>
          <p:cNvPr id="98" name="Google Shape;98;p13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371600" y="1543050"/>
            <a:ext cx="456557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Automated Pass Rate</a:t>
            </a:r>
          </a:p>
        </p:txBody>
      </p:sp>
      <p:sp>
        <p:nvSpPr>
          <p:cNvPr id="100" name="Google Shape;100;p13"/>
          <p:cNvSpPr txBox="1"/>
          <p:nvPr/>
        </p:nvSpPr>
        <p:spPr>
          <a:xfrm>
            <a:off x="828675" y="2085975"/>
            <a:ext cx="489108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Ensuring core functionality via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JUnit 5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Mockito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The ultimate gatekeeper for CI/CD.</a:t>
            </a:r>
          </a:p>
        </p:txBody>
      </p:sp>
      <p:sp>
        <p:nvSpPr>
          <p:cNvPr id="101" name="Google Shape;101;p13"/>
          <p:cNvSpPr txBox="1"/>
          <p:nvPr/>
        </p:nvSpPr>
        <p:spPr>
          <a:xfrm>
            <a:off x="7015162" y="1543050"/>
            <a:ext cx="456557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E2E Workflow Success</a:t>
            </a:r>
          </a:p>
        </p:txBody>
      </p:sp>
      <p:sp>
        <p:nvSpPr>
          <p:cNvPr id="102" name="Google Shape;102;p13"/>
          <p:cNvSpPr txBox="1"/>
          <p:nvPr/>
        </p:nvSpPr>
        <p:spPr>
          <a:xfrm>
            <a:off x="6472237" y="2085975"/>
            <a:ext cx="489108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Validating the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Whole User Journey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from login to QR pickup for seamless integration.</a:t>
            </a:r>
          </a:p>
        </p:txBody>
      </p:sp>
      <p:sp>
        <p:nvSpPr>
          <p:cNvPr id="103" name="Google Shape;103;p13"/>
          <p:cNvSpPr txBox="1"/>
          <p:nvPr/>
        </p:nvSpPr>
        <p:spPr>
          <a:xfrm>
            <a:off x="1371600" y="4476750"/>
            <a:ext cx="456557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QR Verification Rate</a:t>
            </a:r>
          </a:p>
        </p:txBody>
      </p:sp>
      <p:sp>
        <p:nvSpPr>
          <p:cNvPr id="104" name="Google Shape;104;p13"/>
          <p:cNvSpPr txBox="1"/>
          <p:nvPr/>
        </p:nvSpPr>
        <p:spPr>
          <a:xfrm>
            <a:off x="828675" y="5019675"/>
            <a:ext cx="489108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Testing verification logic as an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Isolated Subsystem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using automated bot scripts.</a:t>
            </a:r>
          </a:p>
        </p:txBody>
      </p:sp>
      <p:sp>
        <p:nvSpPr>
          <p:cNvPr id="105" name="Google Shape;105;p13"/>
          <p:cNvSpPr txBox="1"/>
          <p:nvPr/>
        </p:nvSpPr>
        <p:spPr>
          <a:xfrm>
            <a:off x="7015162" y="4476750"/>
            <a:ext cx="456557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Simulated Cycle Time</a:t>
            </a:r>
          </a:p>
        </p:txBody>
      </p:sp>
      <p:sp>
        <p:nvSpPr>
          <p:cNvPr id="106" name="Google Shape;106;p13"/>
          <p:cNvSpPr txBox="1"/>
          <p:nvPr/>
        </p:nvSpPr>
        <p:spPr>
          <a:xfrm>
            <a:off x="6472237" y="5019675"/>
            <a:ext cx="489108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Measuring UI/UX efficiency during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UAT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by digitalizing the delay between reservation and pickup.</a:t>
            </a:r>
          </a:p>
        </p:txBody>
      </p:sp>
      <p:pic>
        <p:nvPicPr>
          <p:cNvPr id="107" name="Google Shape;107;p13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828675" y="154305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 txBox="1"/>
          <p:nvPr/>
        </p:nvSpPr>
        <p:spPr>
          <a:xfrm>
            <a:off x="1019175" y="2713598"/>
            <a:ext cx="470058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25" b="0" i="0" u="none" strike="noStrike" cap="none" dirty="0">
                <a:solidFill>
                  <a:srgbClr val="0369A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US" sz="1125" b="0" i="0" u="none" strike="noStrike" cap="none" dirty="0">
                <a:solidFill>
                  <a:srgbClr val="0369A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Mockito isolates business logic, preventing external DB delays from causing false negative tests.</a:t>
            </a:r>
            <a:endParaRPr dirty="0"/>
          </a:p>
        </p:txBody>
      </p:sp>
      <p:pic>
        <p:nvPicPr>
          <p:cNvPr id="109" name="Google Shape;109;p13" descr="image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6472237" y="154305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6662737" y="2787805"/>
            <a:ext cx="466690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25" b="0" i="0" u="none" strike="noStrike" cap="none" dirty="0">
                <a:solidFill>
                  <a:srgbClr val="0369A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US" sz="1125" b="0" i="0" u="none" strike="noStrike" cap="none" dirty="0">
                <a:solidFill>
                  <a:srgbClr val="0369A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Simulated transactions run on a PostgreSQL test environment to ensure zero data loss.</a:t>
            </a:r>
            <a:endParaRPr dirty="0"/>
          </a:p>
        </p:txBody>
      </p:sp>
      <p:pic>
        <p:nvPicPr>
          <p:cNvPr id="111" name="Google Shape;111;p13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828675" y="447675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/>
        </p:nvSpPr>
        <p:spPr>
          <a:xfrm>
            <a:off x="1019175" y="5676900"/>
            <a:ext cx="4624386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25" b="0" i="0" u="none" strike="noStrike" cap="none" dirty="0">
                <a:solidFill>
                  <a:srgbClr val="0369A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US" sz="1125" b="0" i="0" u="none" strike="noStrike" cap="none" dirty="0">
                <a:solidFill>
                  <a:srgbClr val="0369A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Isolating this critical module helps identify decryption bottlenecks instantly.</a:t>
            </a:r>
            <a:endParaRPr dirty="0"/>
          </a:p>
        </p:txBody>
      </p:sp>
      <p:pic>
        <p:nvPicPr>
          <p:cNvPr id="113" name="Google Shape;113;p13" descr="image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6472237" y="447675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/>
        </p:nvSpPr>
        <p:spPr>
          <a:xfrm>
            <a:off x="6662736" y="5676900"/>
            <a:ext cx="460445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25" b="0" i="0" u="none" strike="noStrike" cap="none" dirty="0">
                <a:solidFill>
                  <a:srgbClr val="0369A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US" sz="1125" b="0" i="0" u="none" strike="noStrike" cap="none" dirty="0">
                <a:solidFill>
                  <a:srgbClr val="0369A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Calculates timestamp differences directly from the database to prove interface fluidity.</a:t>
            </a:r>
            <a:endParaRPr dirty="0"/>
          </a:p>
        </p:txBody>
      </p:sp>
      <p:pic>
        <p:nvPicPr>
          <p:cNvPr id="115" name="Google Shape;115;p13" descr="image.png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947737" y="16621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 descr="image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1019175" y="282892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3" descr="image.png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6591300" y="16621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3" descr="image.png"/>
          <p:cNvPicPr preferRelativeResize="0"/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6662737" y="282892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3" descr="image.png"/>
          <p:cNvPicPr preferRelativeResize="0"/>
          <p:nvPr/>
        </p:nvPicPr>
        <p:blipFill rotWithShape="1">
          <a:blip r:embed="rId18"/>
          <a:srcRect/>
          <a:stretch>
            <a:fillRect/>
          </a:stretch>
        </p:blipFill>
        <p:spPr>
          <a:xfrm>
            <a:off x="957262" y="45958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 descr="image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1019175" y="576262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3" descr="image.png"/>
          <p:cNvPicPr preferRelativeResize="0"/>
          <p:nvPr/>
        </p:nvPicPr>
        <p:blipFill rotWithShape="1">
          <a:blip r:embed="rId19"/>
          <a:srcRect/>
          <a:stretch>
            <a:fillRect/>
          </a:stretch>
        </p:blipFill>
        <p:spPr>
          <a:xfrm>
            <a:off x="6600825" y="45958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 descr="image.png"/>
          <p:cNvPicPr preferRelativeResize="0"/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6662737" y="5762625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1333500"/>
            <a:ext cx="5405437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215062" y="1333500"/>
            <a:ext cx="5405437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151228"/>
            <a:ext cx="5405437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215062" y="4155695"/>
            <a:ext cx="5405437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28675" y="3467100"/>
            <a:ext cx="19431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472237" y="3467100"/>
            <a:ext cx="19431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28675" y="6400800"/>
            <a:ext cx="17335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6472237" y="6400800"/>
            <a:ext cx="20574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828675" y="2695575"/>
            <a:ext cx="4891087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6472237" y="2695575"/>
            <a:ext cx="4891087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4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828675" y="5629275"/>
            <a:ext cx="4891087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4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6472237" y="5629275"/>
            <a:ext cx="4891087" cy="53786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4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2. System Resilience &amp; </a:t>
            </a: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Agile Quality</a:t>
            </a:r>
          </a:p>
        </p:txBody>
      </p:sp>
      <p:sp>
        <p:nvSpPr>
          <p:cNvPr id="141" name="Google Shape;141;p14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1371600" y="1543050"/>
            <a:ext cx="456557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Concurrency Conflict</a:t>
            </a:r>
          </a:p>
        </p:txBody>
      </p:sp>
      <p:sp>
        <p:nvSpPr>
          <p:cNvPr id="143" name="Google Shape;143;p14"/>
          <p:cNvSpPr txBox="1"/>
          <p:nvPr/>
        </p:nvSpPr>
        <p:spPr>
          <a:xfrm>
            <a:off x="828675" y="2085975"/>
            <a:ext cx="489108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Stress testing with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Apache JMeter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to simulate thousands of simultaneous virtual reservations.</a:t>
            </a:r>
          </a:p>
        </p:txBody>
      </p:sp>
      <p:sp>
        <p:nvSpPr>
          <p:cNvPr id="144" name="Google Shape;144;p14"/>
          <p:cNvSpPr txBox="1"/>
          <p:nvPr/>
        </p:nvSpPr>
        <p:spPr>
          <a:xfrm>
            <a:off x="7015162" y="1543050"/>
            <a:ext cx="456557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Sprint Velocity</a:t>
            </a:r>
          </a:p>
        </p:txBody>
      </p:sp>
      <p:sp>
        <p:nvSpPr>
          <p:cNvPr id="145" name="Google Shape;145;p14"/>
          <p:cNvSpPr txBox="1"/>
          <p:nvPr/>
        </p:nvSpPr>
        <p:spPr>
          <a:xfrm>
            <a:off x="6472237" y="2085975"/>
            <a:ext cx="489108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Tracking the ratio of planned vs. completed Story Points to measure agile team efficiency.</a:t>
            </a:r>
          </a:p>
        </p:txBody>
      </p:sp>
      <p:sp>
        <p:nvSpPr>
          <p:cNvPr id="146" name="Google Shape;146;p14"/>
          <p:cNvSpPr txBox="1"/>
          <p:nvPr/>
        </p:nvSpPr>
        <p:spPr>
          <a:xfrm>
            <a:off x="1371600" y="4476750"/>
            <a:ext cx="456557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API Response Latency</a:t>
            </a:r>
          </a:p>
        </p:txBody>
      </p:sp>
      <p:sp>
        <p:nvSpPr>
          <p:cNvPr id="147" name="Google Shape;147;p14"/>
          <p:cNvSpPr txBox="1"/>
          <p:nvPr/>
        </p:nvSpPr>
        <p:spPr>
          <a:xfrm>
            <a:off x="828675" y="5019675"/>
            <a:ext cx="489108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Proactive monitoring of Google Maps API so third-party delays don't create blind spots.</a:t>
            </a:r>
          </a:p>
        </p:txBody>
      </p:sp>
      <p:sp>
        <p:nvSpPr>
          <p:cNvPr id="148" name="Google Shape;148;p14"/>
          <p:cNvSpPr txBox="1"/>
          <p:nvPr/>
        </p:nvSpPr>
        <p:spPr>
          <a:xfrm>
            <a:off x="7015162" y="4476750"/>
            <a:ext cx="456557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Defect Density</a:t>
            </a:r>
          </a:p>
        </p:txBody>
      </p:sp>
      <p:sp>
        <p:nvSpPr>
          <p:cNvPr id="149" name="Google Shape;149;p14"/>
          <p:cNvSpPr txBox="1"/>
          <p:nvPr/>
        </p:nvSpPr>
        <p:spPr>
          <a:xfrm>
            <a:off x="6472237" y="5019675"/>
            <a:ext cx="489108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Evaluating code health by standardizing bug counts against physical codebase size.</a:t>
            </a:r>
          </a:p>
        </p:txBody>
      </p:sp>
      <p:pic>
        <p:nvPicPr>
          <p:cNvPr id="150" name="Google Shape;150;p14" descr="image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828675" y="154305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 txBox="1"/>
          <p:nvPr/>
        </p:nvSpPr>
        <p:spPr>
          <a:xfrm>
            <a:off x="1019175" y="2781300"/>
            <a:ext cx="480622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25" b="0" i="0" u="none" strike="noStrike" cap="none" dirty="0">
                <a:solidFill>
                  <a:srgbClr val="B45309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US" sz="1125" b="0" i="0" u="none" strike="noStrike" cap="none" dirty="0">
                <a:solidFill>
                  <a:srgbClr val="B45309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Validates our </a:t>
            </a:r>
            <a:r>
              <a:rPr lang="en-US" sz="1125" b="1" i="0" u="none" strike="noStrike" cap="none" dirty="0">
                <a:solidFill>
                  <a:srgbClr val="B45309"/>
                </a:solidFill>
                <a:latin typeface="DM Sans"/>
                <a:ea typeface="DM Sans"/>
                <a:cs typeface="DM Sans"/>
                <a:sym typeface="DM Sans"/>
              </a:rPr>
              <a:t>Optimistic Locking</a:t>
            </a:r>
            <a:r>
              <a:rPr lang="en-US" sz="1125" b="0" i="0" u="none" strike="noStrike" cap="none" dirty="0">
                <a:solidFill>
                  <a:srgbClr val="B45309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mechanism in preventing race conditions.</a:t>
            </a:r>
            <a:endParaRPr dirty="0"/>
          </a:p>
        </p:txBody>
      </p:sp>
      <p:pic>
        <p:nvPicPr>
          <p:cNvPr id="152" name="Google Shape;152;p14" descr="image.png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6472237" y="154305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4"/>
          <p:cNvSpPr txBox="1"/>
          <p:nvPr/>
        </p:nvSpPr>
        <p:spPr>
          <a:xfrm>
            <a:off x="6662736" y="2781300"/>
            <a:ext cx="458628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25" b="0" i="0" u="none" strike="noStrike" cap="none" dirty="0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Using 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GitHub Projects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as our Single Source of Truth minimizes context switching.</a:t>
            </a:r>
            <a:endParaRPr dirty="0"/>
          </a:p>
        </p:txBody>
      </p:sp>
      <p:pic>
        <p:nvPicPr>
          <p:cNvPr id="154" name="Google Shape;154;p14" descr="image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828675" y="447675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4"/>
          <p:cNvSpPr txBox="1"/>
          <p:nvPr/>
        </p:nvSpPr>
        <p:spPr>
          <a:xfrm>
            <a:off x="1019175" y="5676900"/>
            <a:ext cx="4624386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25" b="0" i="0" u="none" strike="noStrike" cap="none" dirty="0">
                <a:solidFill>
                  <a:srgbClr val="B45309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US" sz="1125" b="0" i="0" u="none" strike="noStrike" cap="none" dirty="0">
                <a:solidFill>
                  <a:srgbClr val="B45309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Powered by Spring Boot Actuator, scraped by </a:t>
            </a:r>
            <a:r>
              <a:rPr lang="en-US" sz="1125" b="1" i="0" u="none" strike="noStrike" cap="none" dirty="0">
                <a:solidFill>
                  <a:srgbClr val="B45309"/>
                </a:solidFill>
                <a:latin typeface="DM Sans"/>
                <a:ea typeface="DM Sans"/>
                <a:cs typeface="DM Sans"/>
                <a:sym typeface="DM Sans"/>
              </a:rPr>
              <a:t>Prometheus</a:t>
            </a:r>
            <a:r>
              <a:rPr lang="en-US" sz="1125" b="0" i="0" u="none" strike="noStrike" cap="none" dirty="0">
                <a:solidFill>
                  <a:srgbClr val="B45309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, visualized on </a:t>
            </a:r>
            <a:r>
              <a:rPr lang="en-US" sz="1125" b="1" i="0" u="none" strike="noStrike" cap="none" dirty="0">
                <a:solidFill>
                  <a:srgbClr val="B45309"/>
                </a:solidFill>
                <a:latin typeface="DM Sans"/>
                <a:ea typeface="DM Sans"/>
                <a:cs typeface="DM Sans"/>
                <a:sym typeface="DM Sans"/>
              </a:rPr>
              <a:t>Grafana</a:t>
            </a:r>
            <a:r>
              <a:rPr lang="en-US" sz="1125" b="0" i="0" u="none" strike="noStrike" cap="none" dirty="0">
                <a:solidFill>
                  <a:srgbClr val="B45309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.</a:t>
            </a:r>
            <a:endParaRPr dirty="0"/>
          </a:p>
        </p:txBody>
      </p:sp>
      <p:pic>
        <p:nvPicPr>
          <p:cNvPr id="156" name="Google Shape;156;p14" descr="image.png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6472237" y="44767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4" descr="image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6586537" y="5743575"/>
            <a:ext cx="4662487" cy="3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4" descr="image.png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923925" y="166211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4" descr="image.png"/>
          <p:cNvPicPr preferRelativeResize="0"/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1019175" y="282892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4" descr="image.png"/>
          <p:cNvPicPr preferRelativeResize="0"/>
          <p:nvPr/>
        </p:nvPicPr>
        <p:blipFill rotWithShape="1">
          <a:blip r:embed="rId18"/>
          <a:srcRect/>
          <a:stretch>
            <a:fillRect/>
          </a:stretch>
        </p:blipFill>
        <p:spPr>
          <a:xfrm>
            <a:off x="6591300" y="16621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4" descr="image.png"/>
          <p:cNvPicPr preferRelativeResize="0"/>
          <p:nvPr/>
        </p:nvPicPr>
        <p:blipFill rotWithShape="1">
          <a:blip r:embed="rId19"/>
          <a:srcRect/>
          <a:stretch>
            <a:fillRect/>
          </a:stretch>
        </p:blipFill>
        <p:spPr>
          <a:xfrm>
            <a:off x="6662737" y="28289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4" descr="image.png"/>
          <p:cNvPicPr preferRelativeResize="0"/>
          <p:nvPr/>
        </p:nvPicPr>
        <p:blipFill rotWithShape="1">
          <a:blip r:embed="rId20"/>
          <a:srcRect/>
          <a:stretch>
            <a:fillRect/>
          </a:stretch>
        </p:blipFill>
        <p:spPr>
          <a:xfrm>
            <a:off x="947737" y="45958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4" descr="image.png"/>
          <p:cNvPicPr preferRelativeResize="0"/>
          <p:nvPr/>
        </p:nvPicPr>
        <p:blipFill rotWithShape="1">
          <a:blip r:embed="rId21"/>
          <a:srcRect/>
          <a:stretch>
            <a:fillRect/>
          </a:stretch>
        </p:blipFill>
        <p:spPr>
          <a:xfrm>
            <a:off x="1019175" y="576262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4" descr="image.png"/>
          <p:cNvPicPr preferRelativeResize="0"/>
          <p:nvPr/>
        </p:nvPicPr>
        <p:blipFill rotWithShape="1">
          <a:blip r:embed="rId22"/>
          <a:srcRect/>
          <a:stretch>
            <a:fillRect/>
          </a:stretch>
        </p:blipFill>
        <p:spPr>
          <a:xfrm>
            <a:off x="6567487" y="4595812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41264" cy="62068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_gant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8926"/>
            <a:ext cx="12191999" cy="68564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5C46"/>
          </a:solidFill>
          <a:ln w="12700">
            <a:solidFill>
              <a:srgbClr val="0F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F5C46"/>
          </a:solidFill>
          <a:ln w="12700">
            <a:solidFill>
              <a:srgbClr val="0F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23476" y="301752"/>
            <a:ext cx="2103120" cy="2103120"/>
          </a:xfrm>
          <a:prstGeom prst="ellipse">
            <a:avLst/>
          </a:prstGeom>
          <a:solidFill>
            <a:srgbClr val="E5F8EF"/>
          </a:solidFill>
          <a:ln>
            <a:solidFill>
              <a:srgbClr val="E5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" y="5093208"/>
            <a:ext cx="1645920" cy="1645920"/>
          </a:xfrm>
          <a:prstGeom prst="ellipse">
            <a:avLst/>
          </a:prstGeom>
          <a:solidFill>
            <a:srgbClr val="EFFAF5"/>
          </a:solidFill>
          <a:ln>
            <a:solidFill>
              <a:srgbClr val="EF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292608"/>
            <a:ext cx="10058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29968"/>
                </a:solidFill>
                <a:latin typeface="Aptos"/>
              </a:rPr>
              <a:t>REPLATE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02920"/>
            <a:ext cx="420624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14984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Final project outcome and expected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417320"/>
            <a:ext cx="11292840" cy="694944"/>
          </a:xfrm>
          <a:prstGeom prst="roundRect">
            <a:avLst/>
          </a:prstGeom>
          <a:solidFill>
            <a:srgbClr val="DFF7EE"/>
          </a:solidFill>
          <a:ln w="1270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7260" y="1618488"/>
            <a:ext cx="1052017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 err="1">
                <a:solidFill>
                  <a:srgbClr val="0F5C46"/>
                </a:solidFill>
                <a:latin typeface="Aptos"/>
              </a:rPr>
              <a:t>RePlate</a:t>
            </a:r>
            <a:r>
              <a:rPr sz="1400" b="1" dirty="0">
                <a:solidFill>
                  <a:srgbClr val="0F5C46"/>
                </a:solidFill>
                <a:latin typeface="Aptos"/>
              </a:rPr>
              <a:t> is designed as a traceable food redistribution platform that connects businesses, municipalities and citizens in one coordinated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423160"/>
            <a:ext cx="269748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3504" y="2624328"/>
            <a:ext cx="384048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29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" y="2683763"/>
            <a:ext cx="2743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129968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24328"/>
            <a:ext cx="18745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Reduces Food Waste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36392"/>
            <a:ext cx="2295144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Surplus food is listed, reserved, transferred or donated instead of being discarded.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0984" y="2423160"/>
            <a:ext cx="269748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465576" y="2624328"/>
            <a:ext cx="384048" cy="292608"/>
          </a:xfrm>
          <a:prstGeom prst="roundRect">
            <a:avLst/>
          </a:prstGeom>
          <a:solidFill>
            <a:srgbClr val="F5F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5012" y="2683763"/>
            <a:ext cx="2743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9352" y="2624328"/>
            <a:ext cx="18745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Supports Communities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3136392"/>
            <a:ext cx="2295144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Affordable meals, donation flows and pet food support create direct social benefit.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2423160"/>
            <a:ext cx="269748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27648" y="2624328"/>
            <a:ext cx="384048" cy="292608"/>
          </a:xfrm>
          <a:prstGeom prst="roundRect">
            <a:avLst/>
          </a:prstGeom>
          <a:solidFill>
            <a:srgbClr val="F5F7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7084" y="2683763"/>
            <a:ext cx="2743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2624328"/>
            <a:ext cx="18745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Improves Coordination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136392"/>
            <a:ext cx="2295144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Businesses and municipalities share stock, transfers and redistribution data in one system.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25128" y="2423160"/>
            <a:ext cx="269748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89720" y="2624328"/>
            <a:ext cx="384048" cy="292608"/>
          </a:xfrm>
          <a:prstGeom prst="roundRect">
            <a:avLst/>
          </a:prstGeom>
          <a:solidFill>
            <a:srgbClr val="F5F7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49156" y="2683763"/>
            <a:ext cx="2743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2624328"/>
            <a:ext cx="18745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Measures Real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136392"/>
            <a:ext cx="2295144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Dashboards track meals rescued, money saved, donation volume and environmental impact.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4462272"/>
            <a:ext cx="11292840" cy="987552"/>
          </a:xfrm>
          <a:prstGeom prst="roundRect">
            <a:avLst/>
          </a:prstGeom>
          <a:solidFill>
            <a:srgbClr val="0F5C46"/>
          </a:solidFill>
          <a:ln w="12700">
            <a:solidFill>
              <a:srgbClr val="0F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4645152"/>
            <a:ext cx="219456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Final Takeaway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937760"/>
            <a:ext cx="106527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40" b="0">
                <a:solidFill>
                  <a:srgbClr val="FFFFFF"/>
                </a:solidFill>
                <a:latin typeface="Aptos"/>
              </a:rPr>
              <a:t>By combining real-time listing, QR-based pickup verification, municipal redistribution and measurable impact analytics, RePlate turns surplus food into an organized, testable and scalable social value system.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6336792"/>
            <a:ext cx="411480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4748B"/>
                </a:solidFill>
                <a:latin typeface="Aptos"/>
              </a:rPr>
              <a:t>RePlate · SE 216 Software Project Management · Group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02568" y="6336792"/>
            <a:ext cx="32004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1328</Words>
  <Application>Microsoft Office PowerPoint</Application>
  <PresentationFormat>Widescreen</PresentationFormat>
  <Paragraphs>201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DM Sans</vt:lpstr>
      <vt:lpstr>DM Sans Medium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Ramazan Yıldırım</dc:creator>
  <dc:description>generated using python-pptx</dc:description>
  <cp:lastModifiedBy>Hayrünisa Toprak</cp:lastModifiedBy>
  <cp:revision>17</cp:revision>
  <dcterms:created xsi:type="dcterms:W3CDTF">2013-01-27T09:14:00Z</dcterms:created>
  <dcterms:modified xsi:type="dcterms:W3CDTF">2026-05-19T21:51:30Z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C8D9AD37C5334DC5970E6B12D16388AD_12</vt:lpwstr>
  </property>
</Properties>
</file>